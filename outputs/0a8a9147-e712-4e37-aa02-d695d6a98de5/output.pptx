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a801582d4443be" /><Relationship Type="http://schemas.openxmlformats.org/officeDocument/2006/relationships/extended-properties" Target="/docProps/app.xml" Id="Rb580b9df54714eea" /><Relationship Type="http://schemas.openxmlformats.org/officeDocument/2006/relationships/officeDocument" Target="/ppt/presentation.xml" Id="R3dd5ec9fbf564a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f8af86ce3f452f"/>
  </p:sldMasterIdLst>
  <p:notesMasterIdLst>
    <p:notesMasterId xmlns:r="http://schemas.openxmlformats.org/officeDocument/2006/relationships" r:id="R287d29c15c3e44f2"/>
  </p:notesMasterIdLst>
  <p:sldIdLst>
    <p:sldId xmlns:r="http://schemas.openxmlformats.org/officeDocument/2006/relationships" id="256" r:id="R09eb7571f13e4c57"/>
    <p:sldId xmlns:r="http://schemas.openxmlformats.org/officeDocument/2006/relationships" id="257" r:id="R5478dcf4b15c45c9"/>
    <p:sldId xmlns:r="http://schemas.openxmlformats.org/officeDocument/2006/relationships" id="258" r:id="Rea01902524ed4ea3"/>
    <p:sldId xmlns:r="http://schemas.openxmlformats.org/officeDocument/2006/relationships" id="259" r:id="R8295f161401c4de0"/>
    <p:sldId xmlns:r="http://schemas.openxmlformats.org/officeDocument/2006/relationships" id="260" r:id="R865ca023eedd4f6c"/>
    <p:sldId xmlns:r="http://schemas.openxmlformats.org/officeDocument/2006/relationships" id="261" r:id="Re4c90ddafea54657"/>
    <p:sldId xmlns:r="http://schemas.openxmlformats.org/officeDocument/2006/relationships" id="262" r:id="R300d1270aa68403c"/>
    <p:sldId xmlns:r="http://schemas.openxmlformats.org/officeDocument/2006/relationships" id="263" r:id="R1aea78e52d584841"/>
    <p:sldId xmlns:r="http://schemas.openxmlformats.org/officeDocument/2006/relationships" id="264" r:id="R11e6d69d116846eb"/>
    <p:sldId xmlns:r="http://schemas.openxmlformats.org/officeDocument/2006/relationships" id="265" r:id="Re58a729b8da9482e"/>
    <p:sldId xmlns:r="http://schemas.openxmlformats.org/officeDocument/2006/relationships" id="266" r:id="Ra9549ef289d4401d"/>
    <p:sldId xmlns:r="http://schemas.openxmlformats.org/officeDocument/2006/relationships" id="267" r:id="Rd3f2acfce2314839"/>
    <p:sldId xmlns:r="http://schemas.openxmlformats.org/officeDocument/2006/relationships" id="268" r:id="Rd18e34ef26474186"/>
    <p:sldId xmlns:r="http://schemas.openxmlformats.org/officeDocument/2006/relationships" id="269" r:id="Rc280c0ffe1c9471d"/>
    <p:sldId xmlns:r="http://schemas.openxmlformats.org/officeDocument/2006/relationships" id="270" r:id="R2854a95e9d2748ee"/>
    <p:sldId xmlns:r="http://schemas.openxmlformats.org/officeDocument/2006/relationships" id="271" r:id="Rad6bb618c08945ae"/>
    <p:sldId xmlns:r="http://schemas.openxmlformats.org/officeDocument/2006/relationships" id="272" r:id="R2dfc8100de284aa4"/>
    <p:sldId xmlns:r="http://schemas.openxmlformats.org/officeDocument/2006/relationships" id="273" r:id="Rb99f0e2a071c40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8af86ce3f452f" /><Relationship Type="http://schemas.openxmlformats.org/officeDocument/2006/relationships/theme" Target="/ppt/theme/theme1.xml" Id="Re088c42f8fbe4794" /><Relationship Type="http://schemas.openxmlformats.org/officeDocument/2006/relationships/notesMaster" Target="/ppt/notesMasters/notesMaster1.xml" Id="R287d29c15c3e44f2" /><Relationship Type="http://schemas.openxmlformats.org/officeDocument/2006/relationships/presProps" Target="/ppt/presProps.xml" Id="R5ba620c20343422f" /><Relationship Type="http://schemas.openxmlformats.org/officeDocument/2006/relationships/viewProps" Target="/ppt/viewProps.xml" Id="R87e2f80b479649d4" /><Relationship Type="http://schemas.openxmlformats.org/officeDocument/2006/relationships/tableStyles" Target="/ppt/tableStyles.xml" Id="R571c930151ef4c05" /><Relationship Type="http://schemas.openxmlformats.org/officeDocument/2006/relationships/slide" Target="/ppt/slides/slide1.xml" Id="R09eb7571f13e4c57" /><Relationship Type="http://schemas.openxmlformats.org/officeDocument/2006/relationships/slide" Target="/ppt/slides/slide2.xml" Id="R5478dcf4b15c45c9" /><Relationship Type="http://schemas.openxmlformats.org/officeDocument/2006/relationships/slide" Target="/ppt/slides/slide3.xml" Id="Rea01902524ed4ea3" /><Relationship Type="http://schemas.openxmlformats.org/officeDocument/2006/relationships/slide" Target="/ppt/slides/slide4.xml" Id="R8295f161401c4de0" /><Relationship Type="http://schemas.openxmlformats.org/officeDocument/2006/relationships/slide" Target="/ppt/slides/slide5.xml" Id="R865ca023eedd4f6c" /><Relationship Type="http://schemas.openxmlformats.org/officeDocument/2006/relationships/slide" Target="/ppt/slides/slide6.xml" Id="Re4c90ddafea54657" /><Relationship Type="http://schemas.openxmlformats.org/officeDocument/2006/relationships/slide" Target="/ppt/slides/slide7.xml" Id="R300d1270aa68403c" /><Relationship Type="http://schemas.openxmlformats.org/officeDocument/2006/relationships/slide" Target="/ppt/slides/slide8.xml" Id="R1aea78e52d584841" /><Relationship Type="http://schemas.openxmlformats.org/officeDocument/2006/relationships/slide" Target="/ppt/slides/slide9.xml" Id="R11e6d69d116846eb" /><Relationship Type="http://schemas.openxmlformats.org/officeDocument/2006/relationships/slide" Target="/ppt/slides/slide10.xml" Id="Re58a729b8da9482e" /><Relationship Type="http://schemas.openxmlformats.org/officeDocument/2006/relationships/slide" Target="/ppt/slides/slide11.xml" Id="Ra9549ef289d4401d" /><Relationship Type="http://schemas.openxmlformats.org/officeDocument/2006/relationships/slide" Target="/ppt/slides/slide12.xml" Id="Rd3f2acfce2314839" /><Relationship Type="http://schemas.openxmlformats.org/officeDocument/2006/relationships/slide" Target="/ppt/slides/slide13.xml" Id="Rd18e34ef26474186" /><Relationship Type="http://schemas.openxmlformats.org/officeDocument/2006/relationships/slide" Target="/ppt/slides/slide14.xml" Id="Rc280c0ffe1c9471d" /><Relationship Type="http://schemas.openxmlformats.org/officeDocument/2006/relationships/slide" Target="/ppt/slides/slide15.xml" Id="R2854a95e9d2748ee" /><Relationship Type="http://schemas.openxmlformats.org/officeDocument/2006/relationships/slide" Target="/ppt/slides/slide16.xml" Id="Rad6bb618c08945ae" /><Relationship Type="http://schemas.openxmlformats.org/officeDocument/2006/relationships/slide" Target="/ppt/slides/slide17.xml" Id="R2dfc8100de284aa4" /><Relationship Type="http://schemas.openxmlformats.org/officeDocument/2006/relationships/slide" Target="/ppt/slides/slide18.xml" Id="Rb99f0e2a071c40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d6b9e1fa84746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ArvandBrine">
  <a:themeElements>
    <a:clrScheme name="ArvandBrine">
      <a:dk1>
        <a:srgbClr val="10242C"/>
      </a:dk1>
      <a:lt1>
        <a:srgbClr val="F6F1E7"/>
      </a:lt1>
      <a:dk2>
        <a:srgbClr val="1C6B66"/>
      </a:dk2>
      <a:lt2>
        <a:srgbClr val="FFFCF7"/>
      </a:lt2>
      <a:accent1>
        <a:srgbClr val="1C6B66"/>
      </a:accent1>
      <a:accent2>
        <a:srgbClr val="A97845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rvandBrin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3e39f5ba8c42b6" /><Relationship Type="http://schemas.openxmlformats.org/officeDocument/2006/relationships/notesMaster" Target="/ppt/notesMasters/notesMaster1.xml" Id="R6b948fc7e4694b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88cf65d7994ac0" /><Relationship Type="http://schemas.openxmlformats.org/officeDocument/2006/relationships/notesMaster" Target="/ppt/notesMasters/notesMaster1.xml" Id="R6eec28cd8e9d48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4500775ad84eea" /><Relationship Type="http://schemas.openxmlformats.org/officeDocument/2006/relationships/notesMaster" Target="/ppt/notesMasters/notesMaster1.xml" Id="R40e901e69cf34f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ddc1fa6be64108" /><Relationship Type="http://schemas.openxmlformats.org/officeDocument/2006/relationships/notesMaster" Target="/ppt/notesMasters/notesMaster1.xml" Id="R3df51566c2d34a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ff0890839740fd" /><Relationship Type="http://schemas.openxmlformats.org/officeDocument/2006/relationships/notesMaster" Target="/ppt/notesMasters/notesMaster1.xml" Id="R584da761bb5b4d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483d292da64eb4" /><Relationship Type="http://schemas.openxmlformats.org/officeDocument/2006/relationships/notesMaster" Target="/ppt/notesMasters/notesMaster1.xml" Id="Ra1ed738201d640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d5cc59c563485a" /><Relationship Type="http://schemas.openxmlformats.org/officeDocument/2006/relationships/notesMaster" Target="/ppt/notesMasters/notesMaster1.xml" Id="R672cd54b192745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4b471b790245f1" /><Relationship Type="http://schemas.openxmlformats.org/officeDocument/2006/relationships/notesMaster" Target="/ppt/notesMasters/notesMaster1.xml" Id="R361c01c0dabe4e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213f2f09354466" /><Relationship Type="http://schemas.openxmlformats.org/officeDocument/2006/relationships/notesMaster" Target="/ppt/notesMasters/notesMaster1.xml" Id="R44685a9517f349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2319bc386745de" /><Relationship Type="http://schemas.openxmlformats.org/officeDocument/2006/relationships/notesMaster" Target="/ppt/notesMasters/notesMaster1.xml" Id="Rfc61e8b483ce4c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5ac96b8ad3429a" /><Relationship Type="http://schemas.openxmlformats.org/officeDocument/2006/relationships/notesMaster" Target="/ppt/notesMasters/notesMaster1.xml" Id="Rde3f46c1670841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43f1ce11334d9f" /><Relationship Type="http://schemas.openxmlformats.org/officeDocument/2006/relationships/notesMaster" Target="/ppt/notesMasters/notesMaster1.xml" Id="Rf3cdd3dbda2541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203f14bf5641e8" /><Relationship Type="http://schemas.openxmlformats.org/officeDocument/2006/relationships/notesMaster" Target="/ppt/notesMasters/notesMaster1.xml" Id="R9717515c33ca49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bc07e465594661" /><Relationship Type="http://schemas.openxmlformats.org/officeDocument/2006/relationships/notesMaster" Target="/ppt/notesMasters/notesMaster1.xml" Id="R582d07be8d5445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7f32545c6049e3" /><Relationship Type="http://schemas.openxmlformats.org/officeDocument/2006/relationships/notesMaster" Target="/ppt/notesMasters/notesMaster1.xml" Id="Rb53d10480c8a4c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c3cc3b2a5c4147" /><Relationship Type="http://schemas.openxmlformats.org/officeDocument/2006/relationships/notesMaster" Target="/ppt/notesMasters/notesMaster1.xml" Id="R34740dc16dea42e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0828d13d854a4c" /><Relationship Type="http://schemas.openxmlformats.org/officeDocument/2006/relationships/notesMaster" Target="/ppt/notesMasters/notesMaster1.xml" Id="R95a73270b76342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c390fea6d645d4" /><Relationship Type="http://schemas.openxmlformats.org/officeDocument/2006/relationships/notesMaster" Target="/ppt/notesMasters/notesMaster1.xml" Id="Ra8a0bff1073044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با تصویر سالن الکترولیز شروع کنید. بگویید موضوع، خودِ سل است نه یک نرم‌افزار مجرد.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قبل از نرم‌افزار، خود فرآیند را بگویید. مخاطب باید سل را ببیند.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اسکرین‌شات چیدمان A1 است. L2 و M2 در تابلوی اصلی خالی‌اند؛ این را اگر پرسیدند بگویید.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سه عدد سابقه سریال در پایگاه همین برنامه است، نه تعداد نصبِ امروز.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اینجا ارزش اکسس طراح را بالا ببرید. پروژه جایگزین یک ابزار ضعیف نبود.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تب‌ها همان منوی UHDE است که در برنامه وب هم هست. بگویید طراح از اول این عمق را خواسته بود.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پارسه را به‌عنوان تغذیه بدون گزارش‌گیری متعدد بگویید. ادعا نکنید سامانه پارسه بررسی میدانی شده؛ این روایت خودِ کارخانه است.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عدد ولتاژ را آهسته بگویید. این حجم، همان چیزی است که در اکسل‌های پراکنده قابل گزارش نبود.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تأکید کنید دمونتاژ دیگر بعد از تأیید C-90 گم نمی‌شود و سل سالم تا نصب دوباره در کارتابل می‌ماند.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جمع‌بندی را روی همین دو جمله ببندید. سؤال را به سمت یک مسیر مشخص برنامه ببرید: مونتاژ، انبار، یا مانیتورینگ.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5690a5f5b414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6DD871B-D14A-4AC8-B34B-B50E6C85EFA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98F3EC-794E-43A2-B8DC-0296A4C8239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057BF4-9ED0-4292-9BCB-DC227E0B979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A96354-A4A9-45AE-AB3B-C862B2A8042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9c425d64ec646fe" /><Relationship Type="http://schemas.openxmlformats.org/officeDocument/2006/relationships/slideLayout" Target="/ppt/slideLayouts/slideLayout2.xml" Id="R3d29e4aff41347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09A4E8-9E1D-4C92-AF3C-7A1567D8292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29e4aff41347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4d24db9224644" /><Relationship Type="http://schemas.openxmlformats.org/officeDocument/2006/relationships/image" Target="/ppt/media/image.jpeg" Id="R841dd13274b8407d" /><Relationship Type="http://schemas.openxmlformats.org/officeDocument/2006/relationships/notesSlide" Target="/ppt/notesSlides/notesSlide1.xml" Id="Rc8112280f0e84d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c648a2a32342e9" /><Relationship Type="http://schemas.openxmlformats.org/officeDocument/2006/relationships/image" Target="/ppt/media/image2.jpeg" Id="R1dd7ffebe1254f7c" /><Relationship Type="http://schemas.openxmlformats.org/officeDocument/2006/relationships/notesSlide" Target="/ppt/notesSlides/notesSlide2.xml" Id="R0be1e933282d4b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13d25efe5e4165" /><Relationship Type="http://schemas.openxmlformats.org/officeDocument/2006/relationships/image" Target="/ppt/media/image.png" Id="R4df28d4dfcb6438f" /><Relationship Type="http://schemas.openxmlformats.org/officeDocument/2006/relationships/notesSlide" Target="/ppt/notesSlides/notesSlide3.xml" Id="R04c56e2d34ad4c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c0dafa2f05406b" /><Relationship Type="http://schemas.openxmlformats.org/officeDocument/2006/relationships/image" Target="/ppt/media/image3.jpeg" Id="R4a37440f1aa549e2" /><Relationship Type="http://schemas.openxmlformats.org/officeDocument/2006/relationships/notesSlide" Target="/ppt/notesSlides/notesSlide4.xml" Id="R52dda9165d9949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23286459694d7e" /><Relationship Type="http://schemas.openxmlformats.org/officeDocument/2006/relationships/image" Target="/ppt/media/image4.jpeg" Id="Rcb16616ba3244d18" /><Relationship Type="http://schemas.openxmlformats.org/officeDocument/2006/relationships/notesSlide" Target="/ppt/notesSlides/notesSlide5.xml" Id="R24afc830fd5a4b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1edd822c3a4641" /><Relationship Type="http://schemas.openxmlformats.org/officeDocument/2006/relationships/notesSlide" Target="/ppt/notesSlides/notesSlide6.xml" Id="R8dde12091c8b49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206e80a1244db3" /><Relationship Type="http://schemas.openxmlformats.org/officeDocument/2006/relationships/image" Target="/ppt/media/image5.jpeg" Id="R01eaca8d8ecb4f8b" /><Relationship Type="http://schemas.openxmlformats.org/officeDocument/2006/relationships/notesSlide" Target="/ppt/notesSlides/notesSlide7.xml" Id="R1fc7bbf9e60946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ee9b14bdfa4962" /><Relationship Type="http://schemas.openxmlformats.org/officeDocument/2006/relationships/image" Target="/ppt/media/image6.jpeg" Id="R9934dd30484d40af" /><Relationship Type="http://schemas.openxmlformats.org/officeDocument/2006/relationships/notesSlide" Target="/ppt/notesSlides/notesSlide8.xml" Id="R220a5ffdb7f04a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6260c09e004914" /><Relationship Type="http://schemas.openxmlformats.org/officeDocument/2006/relationships/image" Target="/ppt/media/image7.jpeg" Id="R53bee333d975464d" /><Relationship Type="http://schemas.openxmlformats.org/officeDocument/2006/relationships/notesSlide" Target="/ppt/notesSlides/notesSlide9.xml" Id="R87190e963de246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ba2ef288564a1d" /><Relationship Type="http://schemas.openxmlformats.org/officeDocument/2006/relationships/chart" Target="/ppt/slides/charts/chart1.xml" Id="Rcbc4b75510b34191" /><Relationship Type="http://schemas.openxmlformats.org/officeDocument/2006/relationships/notesSlide" Target="/ppt/notesSlides/notesSlide10.xml" Id="R113dbcb02cc842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e34fd0fd9f4cba" /><Relationship Type="http://schemas.openxmlformats.org/officeDocument/2006/relationships/image" Target="/ppt/media/image2.png" Id="Rbd6e09a41cd840f9" /><Relationship Type="http://schemas.openxmlformats.org/officeDocument/2006/relationships/image" Target="/ppt/media/image3.png" Id="R79f07c2b7f074b36" /><Relationship Type="http://schemas.openxmlformats.org/officeDocument/2006/relationships/notesSlide" Target="/ppt/notesSlides/notesSlide11.xml" Id="Raf16a292f9094f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338a7c793545de" /><Relationship Type="http://schemas.openxmlformats.org/officeDocument/2006/relationships/notesSlide" Target="/ppt/notesSlides/notesSlide12.xml" Id="R2f2a6199a81446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e8ae70e68940fe" /><Relationship Type="http://schemas.openxmlformats.org/officeDocument/2006/relationships/image" Target="/ppt/media/image8.jpeg" Id="R4f31c516aaba449e" /><Relationship Type="http://schemas.openxmlformats.org/officeDocument/2006/relationships/notesSlide" Target="/ppt/notesSlides/notesSlide13.xml" Id="R024028377b1d42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3402f229964b50" /><Relationship Type="http://schemas.openxmlformats.org/officeDocument/2006/relationships/image" Target="/ppt/media/image4.png" Id="R268e36641b50446f" /><Relationship Type="http://schemas.openxmlformats.org/officeDocument/2006/relationships/notesSlide" Target="/ppt/notesSlides/notesSlide14.xml" Id="R29db12a828c34d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183a0d5b0b4518" /><Relationship Type="http://schemas.openxmlformats.org/officeDocument/2006/relationships/notesSlide" Target="/ppt/notesSlides/notesSlide15.xml" Id="R5dad6213cefd44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0b1f709f5e4e36" /><Relationship Type="http://schemas.openxmlformats.org/officeDocument/2006/relationships/image" Target="/ppt/media/image5.png" Id="R771d1b20451246c5" /><Relationship Type="http://schemas.openxmlformats.org/officeDocument/2006/relationships/notesSlide" Target="/ppt/notesSlides/notesSlide16.xml" Id="R50968b1ca4ed4c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74b8005f3c450d" /><Relationship Type="http://schemas.openxmlformats.org/officeDocument/2006/relationships/image" Target="/ppt/media/image9.jpeg" Id="R80f8176a9438434b" /><Relationship Type="http://schemas.openxmlformats.org/officeDocument/2006/relationships/notesSlide" Target="/ppt/notesSlides/notesSlide17.xml" Id="R40535c65991449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87b8df52e14a02" /><Relationship Type="http://schemas.openxmlformats.org/officeDocument/2006/relationships/image" Target="/ppt/media/image10.jpeg" Id="R513e7d0de404430d" /><Relationship Type="http://schemas.openxmlformats.org/officeDocument/2006/relationships/notesSlide" Target="/ppt/notesSlides/notesSlide18.xml" Id="Redb709adeebe4d4e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10242C"/>
                </a:solidFill>
                <a:latin typeface="LMN Nazanin"/>
                <a:ea typeface="LMN Nazanin"/>
                <a:cs typeface="LMN Nazanin"/>
              </a:rPr>
              <a:t>سابقه هویت قطعات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0242C"/>
              </a:solidFill>
              <a:latin typeface="LMN Nazanin"/>
              <a:ea typeface="LMN Nazanin"/>
              <a:cs typeface="LMN Nazanin"/>
            </a:defRPr>
          </a:pPr>
        </a:p>
      </c:txPr>
    </c:title>
    <c:autoTitleDeleted val="0"/>
    <c:view3D/>
    <c:plotArea>
      <c:layout/>
      <c:barChart>
        <c:barDir val="col"/>
        <c:grouping val="clustered"/>
        <c:varyColors val="0"/>
        <c:ser>
          <c:idx val="0"/>
          <c:order val="0"/>
          <c:tx>
            <c:v>رکورد</c:v>
          </c:tx>
          <c:spPr>
            <a:solidFill xmlns:a="http://schemas.openxmlformats.org/drawingml/2006/main">
              <a:srgbClr val="1C6B66"/>
            </a:solidFill>
          </c:spPr>
          <c:cat>
            <c:strLit>
              <c:ptCount val="5"/>
              <c:pt idx="0">
                <c:v>المان</c:v>
              </c:pt>
              <c:pt idx="1">
                <c:v>غشا</c:v>
              </c:pt>
              <c:pt idx="2">
                <c:v>آند</c:v>
              </c:pt>
              <c:pt idx="3">
                <c:v>کاتد</c:v>
              </c:pt>
              <c:pt idx="4">
                <c:v>تفکیک</c:v>
              </c:pt>
            </c:strLit>
          </c:cat>
          <c:val>
            <c:numLit>
              <c:formatCode/>
              <c:ptCount val="5"/>
              <c:pt idx="0">
                <c:v>11419</c:v>
              </c:pt>
              <c:pt idx="1">
                <c:v>9833</c:v>
              </c:pt>
              <c:pt idx="2">
                <c:v>5371</c:v>
              </c:pt>
              <c:pt idx="3">
                <c:v>5427</c:v>
              </c:pt>
              <c:pt idx="4">
                <c:v>3198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242C"/>
                  </a:solidFill>
                  <a:latin typeface="LMU Vazir"/>
                  <a:ea typeface="LMU Vazir"/>
                  <a:cs typeface="LMU Vazi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242C"/>
                </a:solidFill>
                <a:latin typeface="LMU Vazir"/>
                <a:ea typeface="LMU Vazir"/>
                <a:cs typeface="LMU Vazir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764"/>
                </a:solidFill>
                <a:latin typeface="LMU Vazir"/>
                <a:ea typeface="LMU Vazir"/>
                <a:cs typeface="LMU Vazir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CF7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dd13274b840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17586-D065-491D-B525-245732B6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7845"/>
                </a:solidFill>
              </a:defRPr>
            </a:pPr>
            <a:r>
              <a:rPr sz="1125" b="1">
                <a:solidFill>
                  <a:srgbClr val="A97845"/>
                </a:solidFill>
              </a:rPr>
              <a:t>پتروشیمی اروند  ·  واحد کلر–آلکالی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B1EEA-C46C-4425-8CE0-BFE50B2D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71650"/>
            <a:ext cx="4381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10242C"/>
                </a:solidFill>
              </a:defRPr>
            </a:pPr>
            <a:r>
              <a:rPr sz="3600" b="1">
                <a:solidFill>
                  <a:srgbClr val="10242C"/>
                </a:solidFill>
              </a:rPr>
              <a:t>از سلول</a:t>
            </a:r>
          </a:p>
          <a:p xmlns:a="http://schemas.openxmlformats.org/drawingml/2006/main">
            <a:pPr algn="r">
              <a:defRPr sz="3600" b="1">
                <a:solidFill>
                  <a:srgbClr val="10242C"/>
                </a:solidFill>
              </a:defRPr>
            </a:pPr>
            <a:r>
              <a:rPr sz="3600" b="1">
                <a:solidFill>
                  <a:srgbClr val="10242C"/>
                </a:solidFill>
              </a:rPr>
              <a:t>تا تصمیم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EEB19-1585-4024-8066-D58C453D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DFB2B-7A60-4DCF-95E1-72E4FB1E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438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42C"/>
                </a:solidFill>
              </a:defRPr>
            </a:pPr>
            <a:r>
              <a:rPr sz="1350" b="0">
                <a:solidFill>
                  <a:srgbClr val="10242C"/>
                </a:solidFill>
              </a:rPr>
              <a:t>سامانه مدیریت سل‌های الکترولیز</a:t>
            </a:r>
          </a:p>
          <a:p xmlns:a="http://schemas.openxmlformats.org/drawingml/2006/main">
            <a:pPr algn="r">
              <a:defRPr sz="1350" b="0">
                <a:solidFill>
                  <a:srgbClr val="10242C"/>
                </a:solidFill>
              </a:defRPr>
            </a:pPr>
            <a:r>
              <a:rPr sz="1350" b="0">
                <a:solidFill>
                  <a:srgbClr val="10242C"/>
                </a:solidFill>
              </a:rPr>
              <a:t>بر پایه UHDE Administration</a:t>
            </a:r>
          </a:p>
          <a:p xmlns:a="http://schemas.openxmlformats.org/drawingml/2006/main">
            <a:pPr algn="r">
              <a:defRPr sz="1350" b="0">
                <a:solidFill>
                  <a:srgbClr val="10242C"/>
                </a:solidFill>
              </a:defRPr>
            </a:pPr>
            <a:r>
              <a:rPr sz="1350" b="0">
                <a:solidFill>
                  <a:srgbClr val="10242C"/>
                </a:solidFill>
              </a:rPr>
              <a:t>برای بهره‌برداری امروز کارخانه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1BC44-16C0-465E-9266-6297EBE7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718EF-8A80-4512-BDF5-76C8F123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341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C6B66"/>
                </a:solidFill>
              </a:defRPr>
            </a:pPr>
            <a:r>
              <a:rPr sz="1050" b="1">
                <a:solidFill>
                  <a:srgbClr val="1C6B66"/>
                </a:solidFill>
              </a:rPr>
              <a:t>نسخه V 1.32</a:t>
            </a:r>
          </a:p>
        </p:txBody>
      </p:sp>
    </p:spTree>
    <p:extLst>
      <p:ext uri="{BB962C8B-B14F-4D97-AF65-F5344CB8AC3E}">
        <p14:creationId xmlns:p14="http://schemas.microsoft.com/office/powerpoint/2010/main" val="147040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45B6D-F0AF-49EE-AC8A-FB38BF57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C7B16-2019-4896-A171-5AA9CE3F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۰۱  ·  واحد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EBF1A-5EAF-4BF2-96C6-F5C31EB4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الکترولیز، در کلی‌ترین نگاه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7ffebe1254f7c"/>
          <a:srcRect xmlns:a="http://schemas.openxmlformats.org/drawingml/2006/main" l="25120" t="0" r="251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238250"/>
            <a:ext cx="4381500" cy="49530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51F6C-C3BC-426E-8B0C-E33138C5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33500"/>
            <a:ext cx="6438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0242C"/>
                </a:solidFill>
              </a:defRPr>
            </a:pPr>
            <a:r>
              <a:rPr sz="1650" b="0">
                <a:solidFill>
                  <a:srgbClr val="10242C"/>
                </a:solidFill>
              </a:rPr>
              <a:t>نمک و جریان برق وارد سل می‌شود.</a:t>
            </a:r>
          </a:p>
          <a:p xmlns:a="http://schemas.openxmlformats.org/drawingml/2006/main">
            <a:pPr algn="r">
              <a:defRPr sz="1650" b="0">
                <a:solidFill>
                  <a:srgbClr val="10242C"/>
                </a:solidFill>
              </a:defRPr>
            </a:pPr>
            <a:r>
              <a:rPr sz="1650" b="0">
                <a:solidFill>
                  <a:srgbClr val="10242C"/>
                </a:solidFill>
              </a:rPr>
              <a:t>سه محصول از همین سلول بیرون می‌آید.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E9BA1-FC8A-49D5-B451-44B14F8D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90750"/>
            <a:ext cx="6438900" cy="800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BD044-8EE1-4E4E-84C0-93837466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87D59-7DF8-4567-A755-4C6EFA69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242C"/>
                </a:solidFill>
              </a:defRPr>
            </a:pPr>
            <a:r>
              <a:rPr sz="1650" b="1">
                <a:solidFill>
                  <a:srgbClr val="10242C"/>
                </a:solidFill>
              </a:rPr>
              <a:t>کلر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48528-A535-4B12-9250-FA4A3C73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289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محصول گازی سمت آند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751A9-AA91-49D3-B783-C2E38175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6438900" cy="800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69423-8081-44CB-91F9-402EA2F0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314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78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853D8-446F-48F5-9DAF-8FBE3B7C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242C"/>
                </a:solidFill>
              </a:defRPr>
            </a:pPr>
            <a:r>
              <a:rPr sz="1650" b="1">
                <a:solidFill>
                  <a:srgbClr val="10242C"/>
                </a:solidFill>
              </a:rPr>
              <a:t>سود سوزآور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DD57C-72C7-41AB-9535-E0A81312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محصول مایع سمت کاتد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EFC07-8697-433D-B96E-1BF97AAF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19550"/>
            <a:ext cx="6438900" cy="800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50A2E-75F9-4DD3-965A-A5C0C2B1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29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D09D7-4F83-4011-9E18-66508383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529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242C"/>
                </a:solidFill>
              </a:defRPr>
            </a:pPr>
            <a:r>
              <a:rPr sz="1650" b="1">
                <a:solidFill>
                  <a:srgbClr val="10242C"/>
                </a:solidFill>
              </a:rPr>
              <a:t>هیدروژن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94F6E-1C19-4B50-B8B0-DCE42FD2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گاز همراه سود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764E1-9CE4-44C5-BED6-32C2E794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84489-2E0A-4EF6-B05A-62F413E4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65817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D8E50-1F2F-4881-82C5-E5A108E5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47A80-A21E-4079-B78E-0934BDEC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۰۲  ·  الکترولایزر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C5960-4180-45DF-8C4E-38442CB0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بیست‌وچهار الکترولایزر، چهارهزار سل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28d4dfcb6438f"/>
          <a:srcRect xmlns:a="http://schemas.openxmlformats.org/drawingml/2006/main" l="0" t="8070" r="0" b="80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181100"/>
            <a:ext cx="6667500" cy="38100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A6305-13FF-422A-B40D-83F1DA75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764"/>
                </a:solidFill>
              </a:defRPr>
            </a:pPr>
            <a:r>
              <a:rPr sz="975" b="0">
                <a:solidFill>
                  <a:srgbClr val="5C6764"/>
                </a:solidFill>
              </a:rPr>
              <a:t>چیدمان زنده A1  ·  ۱۶۸ پوزیشن، ۱۱۳ سل پر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133BC-DC75-4606-9523-2CE95462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81100"/>
            <a:ext cx="4229100" cy="11049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FAD00-4302-4BD6-ADCC-82FEA079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144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6B66"/>
                </a:solidFill>
              </a:defRPr>
            </a:pPr>
            <a:r>
              <a:rPr sz="2250" b="1">
                <a:solidFill>
                  <a:srgbClr val="1C6B66"/>
                </a:solidFill>
              </a:rPr>
              <a:t>۲۴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F5A65-41F6-45EB-B27A-5A416793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9070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دو ترین، از A1 تا M2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77DCE-9372-455C-8E10-3C4F4C85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4229100" cy="11049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046FC-08AF-4F0C-8246-8F11B2C2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6B66"/>
                </a:solidFill>
              </a:defRPr>
            </a:pPr>
            <a:r>
              <a:rPr sz="2250" b="1">
                <a:solidFill>
                  <a:srgbClr val="1C6B66"/>
                </a:solidFill>
              </a:rPr>
              <a:t>۱۶۸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A4175-17B5-449D-B961-3C125E91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پوزیشن؛ دو بلوک ۸۴تایی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58C70-F421-46BB-98DB-85C09215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4229100" cy="11049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CEEA4-21BE-415A-9DDF-473F23A2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6B66"/>
                </a:solidFill>
              </a:defRPr>
            </a:pPr>
            <a:r>
              <a:rPr sz="2250" b="1">
                <a:solidFill>
                  <a:srgbClr val="1C6B66"/>
                </a:solidFill>
              </a:rPr>
              <a:t>۴٬۰۳۲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85A7A-2AA8-49E7-8815-43A1D713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جایگاه؛ ۲٬۶۶۳ تای آن پر است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534A9-8F91-4302-B7E4-EA5DAA72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4229100" cy="11049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032D1-60B7-4ECB-A18C-5C8C7FAA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7205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6B66"/>
                </a:solidFill>
              </a:defRPr>
            </a:pPr>
            <a:r>
              <a:rPr sz="2250" b="1">
                <a:solidFill>
                  <a:srgbClr val="1C6B66"/>
                </a:solidFill>
              </a:rPr>
              <a:t>۲٬۶۵۶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54ED7-88EF-4F9C-8AE4-79497339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4830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سل در سرویس، روی تابلوی زنده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03B11-BA8F-40F9-9B16-AA3800B3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97BA6-302C-4A68-8AD4-64C6C502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561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7C5E1-B18C-4A07-AD40-43AF8E62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340D2-C292-46E7-AB09-51088FCC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۰۳  ·  المان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C2E7B-F198-4493-8CC8-E2EF184F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هر سل یک المان است و سه قطعه دارد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7440f1aa549e2"/>
          <a:srcRect xmlns:a="http://schemas.openxmlformats.org/drawingml/2006/main" l="27284" t="0" r="272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238250"/>
            <a:ext cx="4000500" cy="49530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05A52-B246-48E5-B37E-E76091DB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6896100" cy="13144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6BDC1-7B07-4D91-AAAC-D6BF4EE5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097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0242C"/>
                </a:solidFill>
              </a:defRPr>
            </a:pPr>
            <a:r>
              <a:rPr sz="2100" b="1">
                <a:solidFill>
                  <a:srgbClr val="10242C"/>
                </a:solidFill>
              </a:rPr>
              <a:t>آند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9109B-6BD2-4A64-A926-82D67082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097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B66"/>
                </a:solidFill>
              </a:defRPr>
            </a:pPr>
            <a:r>
              <a:rPr sz="2100" b="1">
                <a:solidFill>
                  <a:srgbClr val="1C6B66"/>
                </a:solidFill>
              </a:rPr>
              <a:t>۵٬۳۷۱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07CFB-B78E-4020-A0F2-84952146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240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764"/>
                </a:solidFill>
              </a:defRPr>
            </a:pPr>
            <a:r>
              <a:rPr sz="1200" b="0">
                <a:solidFill>
                  <a:srgbClr val="5C6764"/>
                </a:solidFill>
              </a:rPr>
              <a:t>سطح کلر. سریال، پوشش و عمر جدا دارد.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F5214-87E2-4DAD-8796-01BA6BAC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896100" cy="13144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03FAD-3B6F-4A6E-BD4C-509547A1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384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0242C"/>
                </a:solidFill>
              </a:defRPr>
            </a:pPr>
            <a:r>
              <a:rPr sz="2100" b="1">
                <a:solidFill>
                  <a:srgbClr val="10242C"/>
                </a:solidFill>
              </a:rPr>
              <a:t>کاتد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FCF2F-A33C-49F0-8C1F-DFBED4E4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384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B66"/>
                </a:solidFill>
              </a:defRPr>
            </a:pPr>
            <a:r>
              <a:rPr sz="2100" b="1">
                <a:solidFill>
                  <a:srgbClr val="1C6B66"/>
                </a:solidFill>
              </a:rPr>
              <a:t>۵٬۴۲۷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2CC26-607D-42F6-81D6-AE0C20F0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764"/>
                </a:solidFill>
              </a:defRPr>
            </a:pPr>
            <a:r>
              <a:rPr sz="1200" b="0">
                <a:solidFill>
                  <a:srgbClr val="5C6764"/>
                </a:solidFill>
              </a:rPr>
              <a:t>سطح سود و هیدروژن. پوشش، سابقه جدا دارد.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B252E-5366-48AB-B1B5-717E6885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896100" cy="13144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AEEFF-5EB9-4A7A-944C-ADF4F007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0242C"/>
                </a:solidFill>
              </a:defRPr>
            </a:pPr>
            <a:r>
              <a:rPr sz="2100" b="1">
                <a:solidFill>
                  <a:srgbClr val="10242C"/>
                </a:solidFill>
              </a:rPr>
              <a:t>غشا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591E8-13CE-4665-A7A6-CEE88A9A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B66"/>
                </a:solidFill>
              </a:defRPr>
            </a:pPr>
            <a:r>
              <a:rPr sz="2100" b="1">
                <a:solidFill>
                  <a:srgbClr val="1C6B66"/>
                </a:solidFill>
              </a:rPr>
              <a:t>۹٬۸۳۳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9066E-5128-4480-852E-8158FA0E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764"/>
                </a:solidFill>
              </a:defRPr>
            </a:pPr>
            <a:r>
              <a:rPr sz="1200" b="0">
                <a:solidFill>
                  <a:srgbClr val="5C6764"/>
                </a:solidFill>
              </a:rPr>
              <a:t>دیواره دو نیمه. هر تعویض یک سابقه است.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D94C6-87EA-457E-939C-D7BE76F5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B7448-FE14-4C01-A904-96FA8EBE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53258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88419-97DF-46CE-B253-C04A5607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E821D-8E14-437B-BA83-863B04F1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۰۴  ·  طراح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7731B-02AE-4612-BCC0-650FE81E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طراح، سازوکار همین قطعات را نرم‌افزار کرد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6616ba3244d18"/>
          <a:srcRect xmlns:a="http://schemas.openxmlformats.org/drawingml/2006/main" l="20750" t="0" r="20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333500"/>
            <a:ext cx="4953000" cy="47625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20117-5B73-459E-AF2D-939F3653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C6B66"/>
                </a:solidFill>
              </a:defRPr>
            </a:pPr>
            <a:r>
              <a:rPr sz="2550" b="1">
                <a:solidFill>
                  <a:srgbClr val="1C6B66"/>
                </a:solidFill>
              </a:rPr>
              <a:t>UHDE Administration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29D10-B31F-419B-9394-F09D8CA8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42C"/>
                </a:solidFill>
              </a:defRPr>
            </a:pPr>
            <a:r>
              <a:rPr sz="1350" b="0">
                <a:solidFill>
                  <a:srgbClr val="10242C"/>
                </a:solidFill>
              </a:rPr>
              <a:t>نرم‌افزار اصلی واحد روی Microsoft Access.</a:t>
            </a:r>
          </a:p>
          <a:p xmlns:a="http://schemas.openxmlformats.org/drawingml/2006/main">
            <a:pPr algn="r">
              <a:defRPr sz="1350" b="0">
                <a:solidFill>
                  <a:srgbClr val="10242C"/>
                </a:solidFill>
              </a:defRPr>
            </a:pPr>
            <a:r>
              <a:rPr sz="1350" b="0">
                <a:solidFill>
                  <a:srgbClr val="10242C"/>
                </a:solidFill>
              </a:rPr>
              <a:t>نام آشنای کارخانه برای آن EAP است.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B36FD-67F3-4468-9771-BF4A43E9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5810250" cy="57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B3CD0-EB72-426B-ADDA-AFB1293C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200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3A06F-004E-44D4-A16D-C6CB1FA4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هویت هر آند، کاتد و غشا با سریال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00ED5-DED0-447D-8988-AB37645D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5810250" cy="57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6F9DB-B2F1-4E1A-8F14-8EF6DF72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2926C-E3A7-4894-9BFE-0185690F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سرهم‌بندی المان و چیدمان سل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F4042-A5B2-45B1-A0FA-050BB6D1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81500"/>
            <a:ext cx="5810250" cy="57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B181C-BCC3-4839-846E-6982CFDF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33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59636-8A14-4DB3-B8CC-B5F5E572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ولتاژ استاندارد، بازده و انرژی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6E6A5-DE7B-41D1-A8A0-E2065026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48250"/>
            <a:ext cx="5810250" cy="571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6206E-C780-4FB4-BDE4-27216F5B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200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1BC74-B20F-4711-A0CB-EF92D809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0065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آنالیز شیمیایی و علت توقف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00A7F-7C22-4372-9B88-DF5F95CE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2532B-FA9E-490C-BE3F-A03DCF18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437101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29789-F2F8-4800-A7F9-1345A355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51390-A306-451F-B449-0911281F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۰۵  ·  عمق UHDE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8A9DF-25FA-4315-A937-BADFDA48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یک فرم نبود؛ نقشه کارخانه بود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5C034-1352-425B-A06D-C2602D37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181100"/>
            <a:ext cx="36576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13F0A-17A7-4B50-8EAF-77EA301B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39065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مدیریت المان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77249-CA0F-495D-999D-E218F36E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مونتاژ، آند، کاتد، غشا، بازرسی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39C11-A9E6-480A-91B7-B7C0B3BB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81100"/>
            <a:ext cx="36576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0E523-5D31-4044-A82A-3856A40F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9065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چیدمان سلول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11E27-D90D-47F8-ACC0-D11BC45A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سل، پوزیشن، قطعه نصب‌شده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9E490-5811-4C41-97E3-5DC126E5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36576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C44A8-142E-48EF-B037-CC9BA7C5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ولتاژ استاندارد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286D4-08AB-4CE2-8FB2-C67D899B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الکترولایزر، گروه، المان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7DFCF-ABE0-4FB9-AE06-6C97AC1B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6576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DC79E-4317-45E1-BACA-E098DC5B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بازده جریان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16197-7FFA-4E52-8D88-F18626F7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از تولید سود، با فرمول طراح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06365-D5A5-42EC-89A8-E751CC6C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36576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338DB-CC58-4A10-A778-203C3AD6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مصرف انرژی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C801C-45E2-4CC4-8EE9-38F9979E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کیلووات‌ساعت بر تن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31058-8FC8-4611-9673-E68AAC25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36576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E6B86-8516-4BB3-8677-5511711D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Un / 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35856-1124-4BD5-B605-24B0FFE7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ولتاژ استاندارد و بازده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C0E7C-E6AA-477C-8C59-3D26B9A7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6576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6B89F5-4678-41F1-A987-E2C7B4E1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0525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آنالیز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34C51-DACE-4793-8BB1-53EAEE79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آنولیت، کاتولیت، کلر، آب دمین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1DE70-DA89-431A-86FD-1F016545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95700"/>
            <a:ext cx="36576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85BF4-0D67-4EE3-864E-6188F611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آمار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4F10C4-FC93-4F69-B30B-963A24B6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2435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جدول و نمودار واحد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ADDCAE-B550-4279-8F96-EF960F61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36576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EE3E5-AFE9-4554-8ED1-8AE15247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توقف واحد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701F67-DF2D-4455-B8AC-16A7F886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دلیل، دسته، علت تریپ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19B562-C7A6-48B3-B589-3592E13B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53000"/>
            <a:ext cx="36576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6E8FA6-796F-4795-840E-E93F57A0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6255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انبار و پوشش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3B2C8D-35E5-4AE6-B6C1-AB1A21A1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8165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موجودی، بازپوشش، تفکیک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71B705-5DDD-4069-8C6F-99BE6146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53000"/>
            <a:ext cx="36576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8C4839-DD3C-40A2-86A9-CA1E4B94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6255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جستجو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42695A-B4DB-4CFC-967B-98AF28B3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8165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سریال، تاریخ، الکترولایزر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32A4EF-02E9-4760-B178-903E7CA9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36576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65EACC-0D2F-476B-9CF7-BDE428A4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تنظیمات واحد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00A41C-971C-4B80-9CCD-7C05C2DB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زبان، جریان مرجع، تاریخ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33A457-F71D-46E3-9350-28C32584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E3AA39-F8AD-4C84-95FC-6F6E1831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09010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94F42-F6BA-4ACE-8229-BEFEB119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63AA7-4C89-49B6-85B8-6ED54534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۰۶  ·  ارزش طراح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D5F51-5BF5-4240-9229-6035CAF8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ارزشمند بود، چون حافظه کارخانه بود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aca8d8ecb4f8b"/>
          <a:srcRect xmlns:a="http://schemas.openxmlformats.org/drawingml/2006/main" l="29447" t="0" r="29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238250"/>
            <a:ext cx="3619500" cy="49530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FE423-81C1-485B-971B-2CABC791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38250"/>
            <a:ext cx="72771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A705F-2BAA-4EB1-A359-DEC92137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90650"/>
            <a:ext cx="689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242C"/>
                </a:solidFill>
              </a:defRPr>
            </a:pPr>
            <a:r>
              <a:rPr sz="1650" b="1">
                <a:solidFill>
                  <a:srgbClr val="10242C"/>
                </a:solidFill>
              </a:rPr>
              <a:t>فرمول، نه سلیقه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041D9-9CE7-4D04-9E9E-8DB49782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689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764"/>
                </a:solidFill>
              </a:defRPr>
            </a:pPr>
            <a:r>
              <a:rPr sz="1200" b="0">
                <a:solidFill>
                  <a:srgbClr val="5C6764"/>
                </a:solidFill>
              </a:rPr>
              <a:t>بازده کاتدی، انرژی و ولتاژ هر المان از رابطه طراح می‌آید، نه از یک جمع ساده.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67952-E3D8-4177-BF6A-2F40FB21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72771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E321A-BAB4-4CAF-A412-404B370E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689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242C"/>
                </a:solidFill>
              </a:defRPr>
            </a:pPr>
            <a:r>
              <a:rPr sz="1650" b="1">
                <a:solidFill>
                  <a:srgbClr val="10242C"/>
                </a:solidFill>
              </a:rPr>
              <a:t>سریال گم نمی‌شود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8C3B4-4638-4933-B4CD-3DCB12C8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689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764"/>
                </a:solidFill>
              </a:defRPr>
            </a:pPr>
            <a:r>
              <a:rPr sz="1200" b="0">
                <a:solidFill>
                  <a:srgbClr val="5C6764"/>
                </a:solidFill>
              </a:rPr>
              <a:t>آند و کاتد و غشا اسم دارند. مونتاژ، دمونتاژ و پوشش به همان اسم برمی‌گردد.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418FB-E50D-487A-AB1D-1FD037E7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72771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5452F-BD83-4906-890E-3FD78509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689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242C"/>
                </a:solidFill>
              </a:defRPr>
            </a:pPr>
            <a:r>
              <a:rPr sz="1650" b="1">
                <a:solidFill>
                  <a:srgbClr val="10242C"/>
                </a:solidFill>
              </a:rPr>
              <a:t>سل در متن واحد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DE04B-AC76-4EAD-BE57-D1D5C0C4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689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764"/>
                </a:solidFill>
              </a:defRPr>
            </a:pPr>
            <a:r>
              <a:rPr sz="1200" b="0">
                <a:solidFill>
                  <a:srgbClr val="5C6764"/>
                </a:solidFill>
              </a:rPr>
              <a:t>از کل واحد تا ترین، الکترولایزر، گروه و یک المان، همان سلسله‌مراتب Access.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955C2-41DC-4E33-9797-217A52A9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3000"/>
            <a:ext cx="7277100" cy="1123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7EB8C-7988-49C2-8557-166042C8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05400"/>
            <a:ext cx="689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242C"/>
                </a:solidFill>
              </a:defRPr>
            </a:pPr>
            <a:r>
              <a:rPr sz="1650" b="1">
                <a:solidFill>
                  <a:srgbClr val="10242C"/>
                </a:solidFill>
              </a:rPr>
              <a:t>توقف دلیل دارد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C5A5A-EE62-40A1-B539-E5E9F26E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05450"/>
            <a:ext cx="689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764"/>
                </a:solidFill>
              </a:defRPr>
            </a:pPr>
            <a:r>
              <a:rPr sz="1200" b="0">
                <a:solidFill>
                  <a:srgbClr val="5C6764"/>
                </a:solidFill>
              </a:rPr>
              <a:t>فهرست خاموشی، دسته، و علت تریپ از اول جزو طراحی بود.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CFD05-4381-47EB-985D-03FBAD2A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27480-E572-4C2D-A514-4BD0AFA8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46904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762B9-316F-488A-BE87-90361C7F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ADD6F-15C2-4B52-899A-094ED418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۰۷  ·  سال‌های میانی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F10E0-0E19-4A4A-92D9-108CDA74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بعد از آن، داده جزیره جزیره شد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4dd30484d40af"/>
          <a:srcRect xmlns:a="http://schemas.openxmlformats.org/drawingml/2006/main" l="30312" t="0" r="303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238250"/>
            <a:ext cx="3467100" cy="49530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041A8-8DF4-4431-BF12-D0126E8B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7429500" cy="1181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7060D-6A92-4226-B031-8E6548B9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فایل‌های اکسل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25340-B16A-4A45-85EA-B0276B6E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704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42C"/>
                </a:solidFill>
              </a:defRPr>
            </a:pPr>
            <a:r>
              <a:rPr sz="1200" b="0">
                <a:solidFill>
                  <a:srgbClr val="10242C"/>
                </a:solidFill>
              </a:rPr>
              <a:t>مونتاژ، تفکیک و بازرسی هر کدام فایل جدا بود.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F9D45-9802-4047-93E3-717942E9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7429500" cy="1181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70A43-EC70-4B64-9D10-98487873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بازرسی جزیره‌ای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55F36-CEA3-4A6A-889F-B9F6F75C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04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42C"/>
                </a:solidFill>
              </a:defRPr>
            </a:pPr>
            <a:r>
              <a:rPr sz="1200" b="0">
                <a:solidFill>
                  <a:srgbClr val="10242C"/>
                </a:solidFill>
              </a:rPr>
              <a:t>نتیجه بازرسی به سریال همان آند وصل نبود.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E8917-278C-4F28-8309-889E2877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7429500" cy="1181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162FD-A9F0-412E-B657-50EFF70A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پارسه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CEE27-A126-485A-99BA-6A2B7F60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704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42C"/>
                </a:solidFill>
              </a:defRPr>
            </a:pPr>
            <a:r>
              <a:rPr sz="1200" b="0">
                <a:solidFill>
                  <a:srgbClr val="10242C"/>
                </a:solidFill>
              </a:rPr>
              <a:t>تغذیه می‌شد، اما گزارش متعدد از آن درنمی‌آمد.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2AA11-E333-4CEF-9E4E-85BFF9BD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7429500" cy="1181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9A10E-906D-4569-A60E-728EA1D6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C6B66"/>
                </a:solidFill>
              </a:defRPr>
            </a:pPr>
            <a:r>
              <a:rPr sz="1650" b="1">
                <a:solidFill>
                  <a:srgbClr val="1C6B66"/>
                </a:solidFill>
              </a:rPr>
              <a:t>اکسس، روی یک میز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D80C5-E393-4C49-8909-816170E4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704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42C"/>
                </a:solidFill>
              </a:defRPr>
            </a:pPr>
            <a:r>
              <a:rPr sz="1200" b="0">
                <a:solidFill>
                  <a:srgbClr val="10242C"/>
                </a:solidFill>
              </a:rPr>
              <a:t>شیفت، کارگاه و انبار همزمان به آن نمی‌رسیدند.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2EA18-3445-4F5C-94F0-C322714A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1BBA9-2821-443E-B437-E5336DD7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09250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203D1-0D30-433F-8920-89E11519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0C4E8-C716-47E5-9C07-4D141B6D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۰۸  ·  پروژه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60F91-99AB-468B-A657-C2E6937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برنامه‌ای تحت وب، بر پایه همان اکسس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ee333d975464d"/>
          <a:srcRect xmlns:a="http://schemas.openxmlformats.org/drawingml/2006/main" l="21875" t="0" r="2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333500"/>
            <a:ext cx="4762500" cy="47625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17D15-BC03-439A-A140-D778A522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0242C"/>
                </a:solidFill>
              </a:defRPr>
            </a:pPr>
            <a:r>
              <a:rPr sz="1950" b="1">
                <a:solidFill>
                  <a:srgbClr val="10242C"/>
                </a:solidFill>
              </a:rPr>
              <a:t>پروژه این نبود که فرم‌ها را از نو اختراع کند.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6B362-34FE-4439-9B3E-961504AD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600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242C"/>
                </a:solidFill>
              </a:defRPr>
            </a:pPr>
            <a:r>
              <a:rPr sz="1350" b="0">
                <a:solidFill>
                  <a:srgbClr val="10242C"/>
                </a:solidFill>
              </a:rPr>
              <a:t>قرار شد هرچه طراح در UHDE Administration خواسته، در برنامه‌ای باشد که شیفت، کارگاه، فرآیند، تدارکات و انبار همزمان ببینند.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6A551-2295-4983-AA42-250B7892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6000750" cy="742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A3B0D-38CE-4C4C-86BB-D9065C19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زبان فرم‌ها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C9B05-9A28-4027-BF0D-004FE8D0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همان نام‌های کارخانه، فارسی و انگلیسی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1B015-E1A9-4A95-A054-4998BF6D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81500"/>
            <a:ext cx="6000750" cy="742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8DE31-2E24-47B2-A6F5-C1A7E8BC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7675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داده طراح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31A76-B798-4A8D-9B1C-907F2B50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مونتاژ، ولتاژ، آنالیز، توقف، قطعات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9DFB5-CF47-48D6-8CEA-DE2FC3A0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38750"/>
            <a:ext cx="6000750" cy="7429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081CE-1E00-410D-BEB1-992173C8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3400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جای دسترسی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DF32F-A4D8-4FC7-AC27-D2F82090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1975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شبکه کارخانه، نه یک فایل روی یک کامپیوتر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CC999-5E64-4352-A775-F90BFE12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5BAF0-67D0-4F11-B729-81C1DD94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807791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B211E-5896-49D5-85ED-E414507F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DAF6D-FF48-4068-90BD-75CDDD18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۰۹  ·  تغذیه داده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2F779-6FD4-4317-9917-5740548C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آنچه طراح خواسته بود، داخل برنامه نشست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9596C-E353-4EB5-BCC3-FA7F3B19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400050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42C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73BFE-2189-42AD-BF89-74DB9C1A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3E6C8"/>
                </a:solidFill>
              </a:defRPr>
            </a:pPr>
            <a:r>
              <a:rPr sz="3150" b="1">
                <a:solidFill>
                  <a:srgbClr val="F3E6C8"/>
                </a:solidFill>
              </a:rPr>
              <a:t>1,493,351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4FBEC-24F2-45D1-93F8-DE52E59B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D7C3"/>
                </a:solidFill>
              </a:defRPr>
            </a:pPr>
            <a:r>
              <a:rPr sz="1200" b="0">
                <a:solidFill>
                  <a:srgbClr val="E7D7C3"/>
                </a:solidFill>
              </a:rPr>
              <a:t>قرائت ولتاژ در پایگاه برنامه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40CC1-A9F2-49D1-B3A1-5C20BF92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CF7"/>
                </a:solidFill>
              </a:defRPr>
            </a:pPr>
            <a:r>
              <a:rPr sz="1200" b="0">
                <a:solidFill>
                  <a:srgbClr val="FFFCF7"/>
                </a:solidFill>
              </a:rPr>
              <a:t>از کل واحد تا یک المان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E6C9B-5E76-4786-A226-F2729D71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1905000" cy="1295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A09EF-07B6-4E13-835C-FCB5EB85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6B66"/>
                </a:solidFill>
              </a:defRPr>
            </a:pPr>
            <a:r>
              <a:rPr sz="2100" b="1">
                <a:solidFill>
                  <a:srgbClr val="1C6B66"/>
                </a:solidFill>
              </a:rPr>
              <a:t>11,419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F9751-9DE3-4F37-B718-21A1706B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رکورد المان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01A8B-983F-47F6-9647-102527A7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76600"/>
            <a:ext cx="1905000" cy="1295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E83-E5C2-4810-AAD4-D1929928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433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6B66"/>
                </a:solidFill>
              </a:defRPr>
            </a:pPr>
            <a:r>
              <a:rPr sz="2100" b="1">
                <a:solidFill>
                  <a:srgbClr val="1C6B66"/>
                </a:solidFill>
              </a:rPr>
              <a:t>9,833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6EED-E481-459D-96F9-4CA7715C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سابقه غشا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FBD51-BC7F-4E0D-BDE8-D2150BA8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905000" cy="1295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A2336-624D-4DF6-A757-1BFDE1F3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6B66"/>
                </a:solidFill>
              </a:defRPr>
            </a:pPr>
            <a:r>
              <a:rPr sz="2100" b="1">
                <a:solidFill>
                  <a:srgbClr val="1C6B66"/>
                </a:solidFill>
              </a:rPr>
              <a:t>5,371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ACEE4-252F-42E7-8464-44AA3985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سریال آند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E6D3E-CB07-436F-9E4F-AC76B14B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1905000" cy="1295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8E0C1-A2DF-4CA3-954A-8349272A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6B66"/>
                </a:solidFill>
              </a:defRPr>
            </a:pPr>
            <a:r>
              <a:rPr sz="2100" b="1">
                <a:solidFill>
                  <a:srgbClr val="1C6B66"/>
                </a:solidFill>
              </a:rPr>
              <a:t>5,427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27A36-A559-4328-8D22-CF05CE9B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673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سریال کاتد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BD15D-B9D0-4C6F-B55C-A50A535B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81100"/>
            <a:ext cx="6896100" cy="4953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048250" y="1428750"/>
          <a:ext xmlns:a="http://schemas.openxmlformats.org/drawingml/2006/main" cx="63817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c4b75510b34191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C24A4-CF60-4DD8-832D-60043432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D61D46-8376-4F1A-9128-91F2C62C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44235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20004-F5D2-43FD-B15D-2B64B223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B2DCC-DEFF-475A-92F1-D0546D00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۱۰  ·  روی میز کار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D1EF5-B25F-4481-A77C-9E7FC3EB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همان داده، روی صفحه برنامه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4A14B-446F-4638-B2E7-666DC024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5448300" cy="495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e09a41cd840f9"/>
          <a:srcRect xmlns:a="http://schemas.openxmlformats.org/drawingml/2006/main" l="0" t="8759" r="0" b="8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257300"/>
            <a:ext cx="5219700" cy="29337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93733-E7FD-4973-AF1D-EC5D100A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521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42C"/>
                </a:solidFill>
              </a:defRPr>
            </a:pPr>
            <a:r>
              <a:rPr sz="1500" b="1">
                <a:solidFill>
                  <a:srgbClr val="10242C"/>
                </a:solidFill>
              </a:rPr>
              <a:t>منوی اصلی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A180F-DEC0-43B4-B6D5-58A21795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521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سل‌های پر، عمر قطعه، صف پوشش</a:t>
            </a:r>
          </a:p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و همان تب‌های UHDE، یکجا.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78A9B-0C65-441D-9487-C31D25A2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43000"/>
            <a:ext cx="5448300" cy="495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07c2b7f074b36"/>
          <a:srcRect xmlns:a="http://schemas.openxmlformats.org/drawingml/2006/main" l="0" t="8759" r="0" b="8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257300"/>
            <a:ext cx="5219700" cy="29337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3D0CA-8EA6-4F37-81B6-F4644DD9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521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42C"/>
                </a:solidFill>
              </a:defRPr>
            </a:pPr>
            <a:r>
              <a:rPr sz="1500" b="1">
                <a:solidFill>
                  <a:srgbClr val="10242C"/>
                </a:solidFill>
              </a:rPr>
              <a:t>داده‌های مونتاژ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6A5AB-185A-4280-A142-31ADE7DF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48200"/>
            <a:ext cx="521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۱۱٬۴۱۹ رکورد. هر مرحله فلو</a:t>
            </a:r>
          </a:p>
          <a:p xmlns:a="http://schemas.openxmlformats.org/drawingml/2006/main">
            <a:pPr algn="r">
              <a:defRPr sz="1125" b="0">
                <a:solidFill>
                  <a:srgbClr val="5C6764"/>
                </a:solidFill>
              </a:defRPr>
            </a:pPr>
            <a:r>
              <a:rPr sz="1125" b="0">
                <a:solidFill>
                  <a:srgbClr val="5C6764"/>
                </a:solidFill>
              </a:rPr>
              <a:t>جدول زیر خودش را فیلتر می‌کند.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353FF-A9BA-4E87-8ABA-8FB042B1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11AC6-2CE0-4D35-AFCA-65B61265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57509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32CFE-EDED-43F6-B282-64E3E470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96745-AAD3-48F7-BD0D-56962741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۱۱  ·  مقایسه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3B5DD-FF3F-4D96-874A-7D0C7D9E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اکسس طراح کنار برنامه‌ای که ساخته شد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036EF-DF2F-4C66-9070-245A5521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3695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E02E1-2F39-446B-B3CD-4B98DE84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3695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CF7"/>
                </a:solidFill>
              </a:defRPr>
            </a:pPr>
            <a:r>
              <a:rPr sz="1200" b="1">
                <a:solidFill>
                  <a:srgbClr val="FFFCF7"/>
                </a:solidFill>
              </a:rPr>
              <a:t>برنامه وب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9A85D-2BC0-4F2F-8479-1AEAD117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81100"/>
            <a:ext cx="373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08F90-2E72-4FA5-85B0-5772D6BA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2763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CF7"/>
                </a:solidFill>
              </a:defRPr>
            </a:pPr>
            <a:r>
              <a:rPr sz="1200" b="1">
                <a:solidFill>
                  <a:srgbClr val="FFFCF7"/>
                </a:solidFill>
              </a:rPr>
              <a:t>UHDE Administration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EE5D0-927B-4090-B5EB-1A482B74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81100"/>
            <a:ext cx="346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BDBEB-3573-4D31-92A9-B4C81368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76350"/>
            <a:ext cx="346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CF7"/>
                </a:solidFill>
              </a:defRPr>
            </a:pPr>
            <a:r>
              <a:rPr sz="1200" b="1">
                <a:solidFill>
                  <a:srgbClr val="FFFCF7"/>
                </a:solidFill>
              </a:rPr>
              <a:t>موضوع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51920-D33D-46F9-8F95-B37D91A3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03B60-94D6-4EAF-AFA5-D9DC01A2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467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C6B66"/>
                </a:solidFill>
              </a:defRPr>
            </a:pPr>
            <a:r>
              <a:rPr sz="1125" b="0">
                <a:solidFill>
                  <a:srgbClr val="1C6B66"/>
                </a:solidFill>
              </a:rPr>
              <a:t>مسیر زنده سل، روی همان سابقه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7CA25-B8AF-4850-A6F3-B355F7C1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73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4ECF4-06BD-48B7-BD75-3B31B014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3505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فرم و سابقه کامل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243CE-2C06-476C-81D6-419D9FD8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467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3BCA1-9BFD-4484-83D8-891BD366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8595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42C"/>
                </a:solidFill>
              </a:defRPr>
            </a:pPr>
            <a:r>
              <a:rPr sz="1125" b="1">
                <a:solidFill>
                  <a:srgbClr val="10242C"/>
                </a:solidFill>
              </a:rPr>
              <a:t>مونتاژ المان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652D4-89B7-4EA0-B510-1B5A02CE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FA905-F2D1-46DB-AF32-10C388B8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3467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C6B66"/>
                </a:solidFill>
              </a:defRPr>
            </a:pPr>
            <a:r>
              <a:rPr sz="1125" b="0">
                <a:solidFill>
                  <a:srgbClr val="1C6B66"/>
                </a:solidFill>
              </a:rPr>
              <a:t>۱٫۴۹ میلیون قرائت، AriaORMS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3483A-07AD-408D-874E-509351FB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373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F0B9B-3406-4B16-B634-64639E73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3505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ورود، جدول، نمودار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C746B-DB97-46E7-BF2B-4AADF9EA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467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C0217-F76F-458B-8DC7-FA93D157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42C"/>
                </a:solidFill>
              </a:defRPr>
            </a:pPr>
            <a:r>
              <a:rPr sz="1125" b="1">
                <a:solidFill>
                  <a:srgbClr val="10242C"/>
                </a:solidFill>
              </a:rPr>
              <a:t>ولتاژ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2EE154-6950-4078-A3E3-5F37CC50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582838-2452-4533-9E78-6675E772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3467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C6B66"/>
                </a:solidFill>
              </a:defRPr>
            </a:pPr>
            <a:r>
              <a:rPr sz="1125" b="0">
                <a:solidFill>
                  <a:srgbClr val="1C6B66"/>
                </a:solidFill>
              </a:rPr>
              <a:t>همان فرمول، قفل کیلوآمپر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0ACC6B-A3C3-44D4-A305-B3F220AB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373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06B5A2-06AC-4B7F-AE0C-CF0B0570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3505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فرمول روی شیت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37CDA-1B23-4DA0-B1EE-7E2C2E04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3467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7FE49-A5E2-4025-8736-E8B8C1AD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42C"/>
                </a:solidFill>
              </a:defRPr>
            </a:pPr>
            <a:r>
              <a:rPr sz="1125" b="1">
                <a:solidFill>
                  <a:srgbClr val="10242C"/>
                </a:solidFill>
              </a:rPr>
              <a:t>بازده کاتدی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B990C0-D2BE-4500-AF78-E1986D72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12089-B856-4B0F-BFCB-CCD5461A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3467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C6B66"/>
                </a:solidFill>
              </a:defRPr>
            </a:pPr>
            <a:r>
              <a:rPr sz="1125" b="0">
                <a:solidFill>
                  <a:srgbClr val="1C6B66"/>
                </a:solidFill>
              </a:rPr>
              <a:t>علت تریپ، کنار خود ورود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E6CEB6-1BDA-491E-97FC-2BD2A862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43350"/>
            <a:ext cx="373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95B2F8-38B8-4FEA-9C8A-47495EFB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14800"/>
            <a:ext cx="3505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فهرست، دلیل، علت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CDE29E-6246-46A0-AE01-4BFC3F7D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3467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0DD4C3-0F4F-4ED6-BB3B-4447A80B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42C"/>
                </a:solidFill>
              </a:defRPr>
            </a:pPr>
            <a:r>
              <a:rPr sz="1125" b="1">
                <a:solidFill>
                  <a:srgbClr val="10242C"/>
                </a:solidFill>
              </a:rPr>
              <a:t>توقف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1B32A3-E945-402C-AD3B-C666689F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933FE8-21DE-46E0-8094-90C5509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3467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C6B66"/>
                </a:solidFill>
              </a:defRPr>
            </a:pPr>
            <a:r>
              <a:rPr sz="1125" b="0">
                <a:solidFill>
                  <a:srgbClr val="1C6B66"/>
                </a:solidFill>
              </a:rPr>
              <a:t>کارتابل خرید، پوشش، انبار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876810-4681-4317-8A3E-3C9F0470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86300"/>
            <a:ext cx="373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EB1FB6-E815-453D-9A39-4828F66C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57750"/>
            <a:ext cx="3505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فرم‌های جدا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8C0E3F-8486-41EE-B9FB-6F84CAAB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3467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563E3D-2D48-4604-B693-8F5D64A7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42C"/>
                </a:solidFill>
              </a:defRPr>
            </a:pPr>
            <a:r>
              <a:rPr sz="1125" b="1">
                <a:solidFill>
                  <a:srgbClr val="10242C"/>
                </a:solidFill>
              </a:rPr>
              <a:t>قطعه و انبار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1D9F64-D094-44CD-AC4E-2D112F61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B4D5EC-BAB6-4433-9082-739FDCDF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3467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C6B66"/>
                </a:solidFill>
              </a:defRPr>
            </a:pPr>
            <a:r>
              <a:rPr sz="1125" b="0">
                <a:solidFill>
                  <a:srgbClr val="1C6B66"/>
                </a:solidFill>
              </a:rPr>
              <a:t>سیزده نقش؛ دیدن جدا از اقدام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1DBB83-A7A7-43C2-A894-65C37908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29250"/>
            <a:ext cx="373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C5A7DE-9176-49C0-85AA-9EF0AD11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3505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کاربران فایل Access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A29031-D55E-444A-9E9E-0BAA747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3467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4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D2A572-B353-4432-8600-C8B5DFEE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007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42C"/>
                </a:solidFill>
              </a:defRPr>
            </a:pPr>
            <a:r>
              <a:rPr sz="1125" b="1">
                <a:solidFill>
                  <a:srgbClr val="10242C"/>
                </a:solidFill>
              </a:rPr>
              <a:t>دسترسی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35CD89-3966-432E-A4B2-95D33F13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CFCBDA-A6F6-426F-AC9D-B00532AD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85425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0D101-368E-493F-AD58-9D6B9AA2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1CB7F-34CC-4AB7-BD2F-4056AF5C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۱۲  ·  ورک‌فلو المان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E4546-6955-4727-9941-6A47BE0E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عمر سل، دست‌به‌دست، تا برگردد یا باز شود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1c516aaba449e"/>
          <a:srcRect xmlns:a="http://schemas.openxmlformats.org/drawingml/2006/main" l="0" t="42390" r="0" b="42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5334000"/>
            <a:ext cx="11125200" cy="9525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C608F-24DC-47F3-A64F-D8A6218A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333500"/>
            <a:ext cx="1790700" cy="3714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3DF65-9BAB-4EA8-94AA-760D9990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52400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97845"/>
                </a:solidFill>
              </a:defRPr>
            </a:pPr>
            <a:r>
              <a:rPr sz="1950" b="1">
                <a:solidFill>
                  <a:srgbClr val="A97845"/>
                </a:solidFill>
              </a:rPr>
              <a:t>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3535E-0933-4503-9D1F-2F3D1012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0025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2C"/>
                </a:solidFill>
              </a:defRPr>
            </a:pPr>
            <a:r>
              <a:rPr sz="1650" b="1">
                <a:solidFill>
                  <a:srgbClr val="10242C"/>
                </a:solidFill>
              </a:rPr>
              <a:t>در سرویس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C45F1-771C-4426-ACD7-F6C79419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0"/>
            <a:ext cx="156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سرپرست الکترولایزر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252FF-ABCA-4B8B-923F-3F62BE3B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33500"/>
            <a:ext cx="1790700" cy="3714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F54FF-6CE0-4AC8-9605-05DF420D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97845"/>
                </a:solidFill>
              </a:defRPr>
            </a:pPr>
            <a:r>
              <a:rPr sz="1950" b="1">
                <a:solidFill>
                  <a:srgbClr val="A97845"/>
                </a:solidFill>
              </a:rPr>
              <a:t>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16EF4-D6AF-4A31-AD54-8B12596C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2C"/>
                </a:solidFill>
              </a:defRPr>
            </a:pPr>
            <a:r>
              <a:rPr sz="1650" b="1">
                <a:solidFill>
                  <a:srgbClr val="10242C"/>
                </a:solidFill>
              </a:rPr>
              <a:t>خروج از مدار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5E37E-7E58-4F2D-8480-FA336789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156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بهره‌بردار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A844B-49F5-4B8C-BF46-3B4CA17D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33500"/>
            <a:ext cx="1790700" cy="3714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B1786-88C2-41DE-AF97-6B356D13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97845"/>
                </a:solidFill>
              </a:defRPr>
            </a:pPr>
            <a:r>
              <a:rPr sz="1950" b="1">
                <a:solidFill>
                  <a:srgbClr val="A97845"/>
                </a:solidFill>
              </a:rPr>
              <a:t>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3246A-72D9-44C1-B466-FAFB2E92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2C"/>
                </a:solidFill>
              </a:defRPr>
            </a:pPr>
            <a:r>
              <a:rPr sz="1650" b="1">
                <a:solidFill>
                  <a:srgbClr val="10242C"/>
                </a:solidFill>
              </a:rPr>
              <a:t>کارگاه سل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2DA16-2C64-4696-94E6-767A4A5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156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سالم بماند یا باز شود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488C9-A90C-4183-A91C-FBEF2655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33500"/>
            <a:ext cx="1790700" cy="3714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C6B66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A439F-5D25-446C-8164-09BEE416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E6C8"/>
                </a:solidFill>
              </a:defRPr>
            </a:pPr>
            <a:r>
              <a:rPr sz="1950" b="1">
                <a:solidFill>
                  <a:srgbClr val="F3E6C8"/>
                </a:solidFill>
              </a:rPr>
              <a:t>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C60E6-B05C-4C69-A4AF-660F0B15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CF7"/>
                </a:solidFill>
              </a:defRPr>
            </a:pPr>
            <a:r>
              <a:rPr sz="1650" b="1">
                <a:solidFill>
                  <a:srgbClr val="FFFCF7"/>
                </a:solidFill>
              </a:rPr>
              <a:t>دمونتاژ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8ED94-727E-4A6A-8E63-FA9642A9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156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5F1EF"/>
                </a:solidFill>
              </a:defRPr>
            </a:pPr>
            <a:r>
              <a:rPr sz="1050" b="0">
                <a:solidFill>
                  <a:srgbClr val="E5F1EF"/>
                </a:solidFill>
              </a:rPr>
              <a:t>تاریخ باز شدن ثبت می‌شود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60CC4-0790-495A-8C02-DC235190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333500"/>
            <a:ext cx="1790700" cy="3714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A39FD-9777-4193-B4D1-4E2692AB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2400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97845"/>
                </a:solidFill>
              </a:defRPr>
            </a:pPr>
            <a:r>
              <a:rPr sz="1950" b="1">
                <a:solidFill>
                  <a:srgbClr val="A97845"/>
                </a:solidFill>
              </a:rPr>
              <a:t>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09662C-FDBB-48C4-9D79-45AE1346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0025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2C"/>
                </a:solidFill>
              </a:defRPr>
            </a:pPr>
            <a:r>
              <a:rPr sz="1650" b="1">
                <a:solidFill>
                  <a:srgbClr val="10242C"/>
                </a:solidFill>
              </a:rPr>
              <a:t>بازرسی قطعه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6D5FA-80FB-41CF-B815-E871396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156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کارشناس تعمیرات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4F56D1-8A80-46B1-AC30-080B5837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790700" cy="3714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952A6-51DD-495E-A989-4858A5A2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97845"/>
                </a:solidFill>
              </a:defRPr>
            </a:pPr>
            <a:r>
              <a:rPr sz="1950" b="1">
                <a:solidFill>
                  <a:srgbClr val="A97845"/>
                </a:solidFill>
              </a:rPr>
              <a:t>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8908E6-7AD8-4BEE-9E59-D944F8DD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2C"/>
                </a:solidFill>
              </a:defRPr>
            </a:pPr>
            <a:r>
              <a:rPr sz="1650" b="1">
                <a:solidFill>
                  <a:srgbClr val="10242C"/>
                </a:solidFill>
              </a:rPr>
              <a:t>برگشت به سل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F87801-CA5A-414C-B56E-6FBB842B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56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پوزیشن نو یا کد نو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20E603-9DB3-43D7-B00E-ED7623B2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5A9FF5-9265-4AD4-94E8-E5313302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669668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369C9-B279-4024-BA4A-BD7B08B6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75130-DC35-4A95-AFCE-9D868FD0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۱۳  ·  قطعه و انبار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2AA13-6271-468B-B9E0-48B42271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خرید و پوشش‌دهی، تا درِ انبار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e36641b50446f"/>
          <a:srcRect xmlns:a="http://schemas.openxmlformats.org/drawingml/2006/main" l="0" t="8725" r="0" b="8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181100"/>
            <a:ext cx="6096000" cy="34290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B4E78-BBA4-49FD-8360-04AE2A30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کارتابل انبار آند و کاتد، با گروه مسئول هر ردیف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42C1C-BD99-47DC-8E59-E397B51D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81100"/>
            <a:ext cx="4838700" cy="11049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C1DBF-A4AE-4C95-90F1-FAC89AB1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14450"/>
            <a:ext cx="4457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C6B66"/>
                </a:solidFill>
              </a:defRPr>
            </a:pPr>
            <a:r>
              <a:rPr sz="1500" b="1">
                <a:solidFill>
                  <a:srgbClr val="1C6B66"/>
                </a:solidFill>
              </a:rPr>
              <a:t>بازرسی پوشش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CD98E-BDF6-4085-9C1E-7CF6DA88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57350"/>
            <a:ext cx="445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0242C"/>
                </a:solidFill>
              </a:defRPr>
            </a:pPr>
            <a:r>
              <a:rPr sz="1050" b="0">
                <a:solidFill>
                  <a:srgbClr val="10242C"/>
                </a:solidFill>
              </a:rPr>
              <a:t>کارشناس تعمیرات می‌گوید پوشش خوب است، متوسط است، یا باید برود.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92F5B-BC83-498C-A2BC-A32B75D7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4838700" cy="11049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7C035-838E-45C8-8446-2372C720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33650"/>
            <a:ext cx="4457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C6B66"/>
                </a:solidFill>
              </a:defRPr>
            </a:pPr>
            <a:r>
              <a:rPr sz="1500" b="1">
                <a:solidFill>
                  <a:srgbClr val="1C6B66"/>
                </a:solidFill>
              </a:rPr>
              <a:t>تدارکات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F0381-42C5-4CD1-9B3C-BBF13108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76550"/>
            <a:ext cx="445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0242C"/>
                </a:solidFill>
              </a:defRPr>
            </a:pPr>
            <a:r>
              <a:rPr sz="1050" b="0">
                <a:solidFill>
                  <a:srgbClr val="10242C"/>
                </a:solidFill>
              </a:rPr>
              <a:t>شرکت پوشش‌دهنده یا خرید نو انتخاب می‌شود و کالا از کارخانه خارج می‌شود.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094A6-E774-437A-A725-3D276F90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19500"/>
            <a:ext cx="4838700" cy="11049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5E15F-BFA6-4FA5-97AC-B004E69A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2850"/>
            <a:ext cx="4457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C6B66"/>
                </a:solidFill>
              </a:defRPr>
            </a:pPr>
            <a:r>
              <a:rPr sz="1500" b="1">
                <a:solidFill>
                  <a:srgbClr val="1C6B66"/>
                </a:solidFill>
              </a:rPr>
              <a:t>برگشت و گارانتی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BD8AF-A711-4B8B-925A-7627193E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95750"/>
            <a:ext cx="445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0242C"/>
                </a:solidFill>
              </a:defRPr>
            </a:pPr>
            <a:r>
              <a:rPr sz="1050" b="0">
                <a:solidFill>
                  <a:srgbClr val="10242C"/>
                </a:solidFill>
              </a:rPr>
              <a:t>تاریخ برگشت، تأخیر شرکت، و ضمانت روی همان سریال می‌نشیند.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43E99-0C7B-4DF3-A94A-77C18262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4838700" cy="11049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3D0DB-12C9-40F9-B08E-71932540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72050"/>
            <a:ext cx="4457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C6B66"/>
                </a:solidFill>
              </a:defRPr>
            </a:pPr>
            <a:r>
              <a:rPr sz="1500" b="1">
                <a:solidFill>
                  <a:srgbClr val="1C6B66"/>
                </a:solidFill>
              </a:rPr>
              <a:t>ورود انبار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076CE-A221-4815-B6EA-A105E5DA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314950"/>
            <a:ext cx="445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0242C"/>
                </a:solidFill>
              </a:defRPr>
            </a:pPr>
            <a:r>
              <a:rPr sz="1050" b="0">
                <a:solidFill>
                  <a:srgbClr val="10242C"/>
                </a:solidFill>
              </a:rPr>
              <a:t>شماره ایندنت و تاریخ ورود را انبار ثبت می‌کند؛ بعد قطعه قابل نصب است.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37837-F38D-42DC-84F6-5D22A907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AF741-D322-4CC4-B24F-B1757223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024319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B4F89-9D4E-4D45-BAB9-5D1AF5D5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A569A-1F71-44AE-B157-3CBE8848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۱۴  ·  نقش‌ها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1883A-3B6F-47E2-87CD-285EB037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هر مرحله صاحب دارد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51161-7550-4415-90C5-A770A71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764"/>
                </a:solidFill>
              </a:defRPr>
            </a:pPr>
            <a:r>
              <a:rPr sz="1200" b="0">
                <a:solidFill>
                  <a:srgbClr val="5C6764"/>
                </a:solidFill>
              </a:rPr>
              <a:t>سرپرست و کارشناس هر بخش، فعلاً یک دسترسی دارند. اقدام مال کسی است که کارتابل آن مرحله را دارد.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6B153-C2EB-4278-9CB7-3E7A61D9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24000"/>
            <a:ext cx="3657600" cy="1390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EA84D-809B-4192-B06E-54AF7AB1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335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C6B66"/>
                </a:solidFill>
              </a:defRPr>
            </a:pPr>
            <a:r>
              <a:rPr sz="1500" b="1">
                <a:solidFill>
                  <a:srgbClr val="1C6B66"/>
                </a:solidFill>
              </a:rPr>
              <a:t>سرپرست الکترولایزرها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7840A-AE31-48C2-9198-907B0707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335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Assembly Data و تصویر سل‌های در سرویس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2261A-A598-4F43-B46C-DBBE531C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24000"/>
            <a:ext cx="3657600" cy="1390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33C4F-CF77-4F44-B238-19140D1C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90700"/>
            <a:ext cx="335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C6B66"/>
                </a:solidFill>
              </a:defRPr>
            </a:pPr>
            <a:r>
              <a:rPr sz="1500" b="1">
                <a:solidFill>
                  <a:srgbClr val="1C6B66"/>
                </a:solidFill>
              </a:rPr>
              <a:t>بهره‌بردار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A6C07-D893-4927-BC41-D06164E2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335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خاموشی، درخواست خروج، کارتابل سل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40CC4-291B-4A6B-9C18-FAA0AE9D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657600" cy="1390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6EEB5-3FCC-47F6-A2A4-F6B04DD6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35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C6B66"/>
                </a:solidFill>
              </a:defRPr>
            </a:pPr>
            <a:r>
              <a:rPr sz="1500" b="1">
                <a:solidFill>
                  <a:srgbClr val="1C6B66"/>
                </a:solidFill>
              </a:rPr>
              <a:t>فرآیند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43D6F-6314-4E04-B239-F63F1DF5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35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آنالیزها و شیت بازده کاتدی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3A89D-7C67-4E5A-8B9B-87A95882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3657600" cy="1390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7FD71-9640-4165-8A7B-14DB1AD0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335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C6B66"/>
                </a:solidFill>
              </a:defRPr>
            </a:pPr>
            <a:r>
              <a:rPr sz="1500" b="1">
                <a:solidFill>
                  <a:srgbClr val="1C6B66"/>
                </a:solidFill>
              </a:rPr>
              <a:t>C-90 و کارگاه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C87F9-A5F4-48CD-A881-960AD72C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0000"/>
            <a:ext cx="335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دمونتاژ، Rate off، مونتاژ المان نو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1A960-71D3-4888-BE9C-AD817586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3657600" cy="1390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FFE79-781D-4F2C-A163-153C37D1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14700"/>
            <a:ext cx="335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C6B66"/>
                </a:solidFill>
              </a:defRPr>
            </a:pPr>
            <a:r>
              <a:rPr sz="1500" b="1">
                <a:solidFill>
                  <a:srgbClr val="1C6B66"/>
                </a:solidFill>
              </a:rPr>
              <a:t>تدارکات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4B269-9D2E-44E6-B093-C31EBDCE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0000"/>
            <a:ext cx="335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شرکت، ارسال، خرید و گارانتی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D96B6-3D2D-495E-B4A1-2EFFF6D1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3657600" cy="1390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24914-AA4E-42FE-9E24-A4BC2D6A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35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C6B66"/>
                </a:solidFill>
              </a:defRPr>
            </a:pPr>
            <a:r>
              <a:rPr sz="1500" b="1">
                <a:solidFill>
                  <a:srgbClr val="1C6B66"/>
                </a:solidFill>
              </a:rPr>
              <a:t>انبار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F20BB-5DBE-4FFD-A77E-0BE0A847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35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موجودی، ایندنت، تاریخ ورود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94800-3680-4033-8B51-937283F1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72000"/>
            <a:ext cx="3657600" cy="1390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44C5C1-9BF6-4B35-93AD-CED1B016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38700"/>
            <a:ext cx="335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C6B66"/>
                </a:solidFill>
              </a:defRPr>
            </a:pPr>
            <a:r>
              <a:rPr sz="1500" b="1">
                <a:solidFill>
                  <a:srgbClr val="1C6B66"/>
                </a:solidFill>
              </a:rPr>
              <a:t>تعمیرات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00FEE5-3E12-44B6-8E67-3F894F2D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34000"/>
            <a:ext cx="335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0242C"/>
                </a:solidFill>
              </a:defRPr>
            </a:pPr>
            <a:r>
              <a:rPr sz="1125" b="0">
                <a:solidFill>
                  <a:srgbClr val="10242C"/>
                </a:solidFill>
              </a:rPr>
              <a:t>بازرسی آند و کاتد جداشده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6EFF0B-B704-4643-B0C8-20DAAD1B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72000"/>
            <a:ext cx="3657600" cy="1390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42C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798560-DD16-46A8-8DE1-4DC95502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38700"/>
            <a:ext cx="335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CF7"/>
                </a:solidFill>
              </a:defRPr>
            </a:pPr>
            <a:r>
              <a:rPr sz="1500" b="1">
                <a:solidFill>
                  <a:srgbClr val="FFFCF7"/>
                </a:solidFill>
              </a:rPr>
              <a:t>مدیر کارخانه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EBC150-CD9F-494D-BCB9-9A637640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34000"/>
            <a:ext cx="335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7D7C3"/>
                </a:solidFill>
              </a:defRPr>
            </a:pPr>
            <a:r>
              <a:rPr sz="1125" b="0">
                <a:solidFill>
                  <a:srgbClr val="E7D7C3"/>
                </a:solidFill>
              </a:rPr>
              <a:t>می‌تواند در هر مرحله اقدام کند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7739F6-2A28-4AC0-B149-764166DE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3657600" cy="13906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42C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F2358E-5F9B-4678-BCB7-869A715E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335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CF7"/>
                </a:solidFill>
              </a:defRPr>
            </a:pPr>
            <a:r>
              <a:rPr sz="1500" b="1">
                <a:solidFill>
                  <a:srgbClr val="FFFCF7"/>
                </a:solidFill>
              </a:rPr>
              <a:t>مدیریت سازمان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8A16AD-144F-48BE-B985-9DF96381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35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7D7C3"/>
                </a:solidFill>
              </a:defRPr>
            </a:pPr>
            <a:r>
              <a:rPr sz="1125" b="0">
                <a:solidFill>
                  <a:srgbClr val="E7D7C3"/>
                </a:solidFill>
              </a:rPr>
              <a:t>همه کارتابل‌ها را می‌بیند، اقدام نمی‌کند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4657E2-5BCF-47C6-936E-CC86C776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FCAA76-277D-450B-A441-08029402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404375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8DB9C-40E3-4172-A2E4-59A0E70F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D6C70-CC7E-4BD5-89C9-3B87135D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۱۵  ·  مازاد بر اکسس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31332-20EA-485E-96FD-520287D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چیزهایی که در اکسس جزئی بود یا نبود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d1b20451246c5"/>
          <a:srcRect xmlns:a="http://schemas.openxmlformats.org/drawingml/2006/main" l="0" t="8677" r="0" b="86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143000"/>
            <a:ext cx="7239000" cy="40767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C6737-31CD-483A-A773-3D4E85AA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143000"/>
            <a:ext cx="36957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8B036-D43A-4015-95E4-767604BE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57300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C6B66"/>
                </a:solidFill>
              </a:defRPr>
            </a:pPr>
            <a:r>
              <a:rPr sz="1200" b="1">
                <a:solidFill>
                  <a:srgbClr val="1C6B66"/>
                </a:solidFill>
              </a:rPr>
              <a:t>اتاق سل زنده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CB970-4A95-45AC-A222-FD74D3CA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8115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0242C"/>
                </a:solidFill>
              </a:defRPr>
            </a:pPr>
            <a:r>
              <a:rPr sz="975" b="0">
                <a:solidFill>
                  <a:srgbClr val="10242C"/>
                </a:solidFill>
              </a:rPr>
              <a:t>مانیتورینگ دو ترین، هشدار، و سلامت سلول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25E78-6E0A-4372-9377-1B7B486B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36957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28CBE-AE75-45A3-86EB-1BBE5F4D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C6B66"/>
                </a:solidFill>
              </a:defRPr>
            </a:pPr>
            <a:r>
              <a:rPr sz="1200" b="1">
                <a:solidFill>
                  <a:srgbClr val="1C6B66"/>
                </a:solidFill>
              </a:rPr>
              <a:t>صف پوشش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EFAAF-A6FE-480C-8F1F-5BF0F5FA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0242C"/>
                </a:solidFill>
              </a:defRPr>
            </a:pPr>
            <a:r>
              <a:rPr sz="975" b="0">
                <a:solidFill>
                  <a:srgbClr val="10242C"/>
                </a:solidFill>
              </a:rPr>
              <a:t>۲٬۲۰۰ قطعه آماده ارسال؛ ۲٬۳۴۰ قطعه نزدیک پایان عمر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FFB78-2EA6-48A5-A7F5-2FCDB36E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24200"/>
            <a:ext cx="36957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2B5AF-E615-4A66-B35C-E128FFD5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38500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C6B66"/>
                </a:solidFill>
              </a:defRPr>
            </a:pPr>
            <a:r>
              <a:rPr sz="1200" b="1">
                <a:solidFill>
                  <a:srgbClr val="1C6B66"/>
                </a:solidFill>
              </a:rPr>
              <a:t>نمودار واحد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9D313-2529-4B6E-89C4-89F453D5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6235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0242C"/>
                </a:solidFill>
              </a:defRPr>
            </a:pPr>
            <a:r>
              <a:rPr sz="975" b="0">
                <a:solidFill>
                  <a:srgbClr val="10242C"/>
                </a:solidFill>
              </a:rPr>
              <a:t>ولتاژ، آمپر و توان؛ کل واحد، ترین یا یک الکترولایزر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F407A-6ACB-4E54-81E1-35D16B4B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36957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51F64-E77E-4F9D-BAD0-B3A33164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C6B66"/>
                </a:solidFill>
              </a:defRPr>
            </a:pPr>
            <a:r>
              <a:rPr sz="1200" b="1">
                <a:solidFill>
                  <a:srgbClr val="1C6B66"/>
                </a:solidFill>
              </a:rPr>
              <a:t>تقویم شمسی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0D90B-EEA6-4299-9727-E448B92A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0242C"/>
                </a:solidFill>
              </a:defRPr>
            </a:pPr>
            <a:r>
              <a:rPr sz="975" b="0">
                <a:solidFill>
                  <a:srgbClr val="10242C"/>
                </a:solidFill>
              </a:rPr>
              <a:t>تاریخ کارخانه، نه فقط میلادی فایل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0BF93-DE97-48AE-B629-CF95AC55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05400"/>
            <a:ext cx="36957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D10AD-16AC-455B-9966-43A2BA10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19700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C6B66"/>
                </a:solidFill>
              </a:defRPr>
            </a:pPr>
            <a:r>
              <a:rPr sz="1200" b="1">
                <a:solidFill>
                  <a:srgbClr val="1C6B66"/>
                </a:solidFill>
              </a:rPr>
              <a:t>فایل هر جدول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02FD3-5D3A-4798-A71E-853E55D3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4355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0242C"/>
                </a:solidFill>
              </a:defRPr>
            </a:pPr>
            <a:r>
              <a:rPr sz="975" b="0">
                <a:solidFill>
                  <a:srgbClr val="10242C"/>
                </a:solidFill>
              </a:rPr>
              <a:t>اکسل همان جدول، با حجم و تعداد رکورد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CD57E-4A9B-4360-A30A-5A50188F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7017F-8466-4CBC-9EDF-2E88DC75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61765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30DFB-8C39-40CC-B0F8-F839B4B6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9FBAE-362A-42E3-9C2B-D72A40E5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7845"/>
                </a:solidFill>
              </a:defRPr>
            </a:pPr>
            <a:r>
              <a:rPr sz="1050" b="1">
                <a:solidFill>
                  <a:srgbClr val="A97845"/>
                </a:solidFill>
              </a:rPr>
              <a:t>۱۶  ·  مسیرها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46915-A852-4054-9EE1-C5633323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242C"/>
                </a:solidFill>
              </a:defRPr>
            </a:pPr>
            <a:r>
              <a:rPr sz="2400" b="1">
                <a:solidFill>
                  <a:srgbClr val="10242C"/>
                </a:solidFill>
              </a:rPr>
              <a:t>کجا را باز کنیم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8176a9438434b"/>
          <a:srcRect xmlns:a="http://schemas.openxmlformats.org/drawingml/2006/main" l="30147" t="0" r="30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238250"/>
            <a:ext cx="3429000" cy="485775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4BFF1-847F-4AD1-902F-7921F9A7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81100"/>
            <a:ext cx="3657600" cy="8953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D4B14-8F84-4076-BD4D-0F5AA512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144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منوی اصلی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0F9F9-01CC-4EE8-85BD-96678E80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تصویر واحد، سل‌های پر، صف پوشش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5B328-64EF-40CF-A335-74472AFE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657600" cy="8953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64F14-4D97-4745-8A7D-42EE2B45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داده‌های مونتاژ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7D479-56B9-4A89-A2AF-B48EF927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فلو کلیک‌خور و سابقه ۱۱٬۴۱۹ المان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102DC-4E6F-4653-A691-08DABDED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62300"/>
            <a:ext cx="3657600" cy="8953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EA0D9-1660-433A-A959-9164C54E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چیدمان سلول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442C2-1FC3-471B-B5F9-187A561F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پوزیشن ۱ تا ۱۶۸، با آند و کاتد و غشا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FB43F-CE1E-4D87-B5D0-E8EC516E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52900"/>
            <a:ext cx="3657600" cy="8953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FF3EB-60F5-455B-8933-A8208241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862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داشبورد المنت‌ها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622F6-44F8-4942-B8F2-8917BF14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عمر، DOL، و کارگاه سل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B767F-F9AC-4331-9638-D0493FAB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43500"/>
            <a:ext cx="3657600" cy="8953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93368-F28D-4B55-A4F8-2EDA099A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768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مانیتورینگ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52D8E-3569-4020-A585-B93CC51E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1975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سل‌روم دو ترین و صندوق هشدار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041158-142E-4E33-B1A4-BAB33CB2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81100"/>
            <a:ext cx="3657600" cy="8953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69BF0-9A01-438D-8C52-76739F5C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144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انبار آند و کاتد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33F93-DDA6-45C8-A5F0-96CAB6B2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خرید، پوشش، گارانتی، ورود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482BCB-143E-47D7-A743-3DA4093D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3657600" cy="8953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F3EEF8-E89D-445F-AC5F-ECB381D3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ولتاژ و بازده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6DE9A4-69D4-415F-AAA9-A280E33F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قرائت استاندارد و شیت سود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468E4C-1C17-4D3B-81E2-7E97C7E9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3657600" cy="8953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717CF8-1AC6-4F9F-886D-4ED36676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956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توقف واحد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A38F81-19A6-4423-8E08-34936D76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فهرست خاموشی و علت تریپ در ورود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7D8C11-A86E-4D66-8AA7-54386A5C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52900"/>
            <a:ext cx="3657600" cy="8953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CF5EFA-40C4-4F7B-B553-31B26462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42C"/>
                </a:solidFill>
              </a:defRPr>
            </a:pPr>
            <a:r>
              <a:rPr sz="1350" b="1">
                <a:solidFill>
                  <a:srgbClr val="10242C"/>
                </a:solidFill>
              </a:rPr>
              <a:t>کاربران و نقش‌ها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400738-E864-4ABB-A16C-EF5D9562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764"/>
                </a:solidFill>
              </a:defRPr>
            </a:pPr>
            <a:r>
              <a:rPr sz="1050" b="0">
                <a:solidFill>
                  <a:srgbClr val="5C6764"/>
                </a:solidFill>
              </a:rPr>
              <a:t>سیزده نقش کارخانه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55B3E9-7878-45CF-8AA2-A9A018D8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Arvand Cell Management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D2FB70-3CC4-4306-BDF4-351A5463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64"/>
                </a:solidFill>
              </a:defRPr>
            </a:pPr>
            <a:r>
              <a:rPr sz="900" b="0">
                <a:solidFill>
                  <a:srgbClr val="5C6764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107358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4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E89636-0F84-427C-A10F-6CADE621CF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e7d0de40443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7A0D9-CA5B-45BF-AE7C-3093CF2F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CF714-11FA-41CC-813F-453857EF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09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FFFCF7"/>
                </a:solidFill>
              </a:defRPr>
            </a:pPr>
            <a:r>
              <a:rPr sz="3000" b="1">
                <a:solidFill>
                  <a:srgbClr val="FFFCF7"/>
                </a:solidFill>
              </a:rPr>
              <a:t>دانش طراح گم نشد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E01FC-3366-4E67-B93B-189D38D9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09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E7D7C3"/>
                </a:solidFill>
              </a:defRPr>
            </a:pPr>
            <a:r>
              <a:rPr sz="1950" b="0">
                <a:solidFill>
                  <a:srgbClr val="E7D7C3"/>
                </a:solidFill>
              </a:rPr>
              <a:t>جاهایی که فقط طرح شده بود</a:t>
            </a:r>
          </a:p>
          <a:p xmlns:a="http://schemas.openxmlformats.org/drawingml/2006/main">
            <a:pPr algn="r">
              <a:defRPr sz="1950" b="0">
                <a:solidFill>
                  <a:srgbClr val="E7D7C3"/>
                </a:solidFill>
              </a:defRPr>
            </a:pPr>
            <a:r>
              <a:rPr sz="1950" b="0">
                <a:solidFill>
                  <a:srgbClr val="E7D7C3"/>
                </a:solidFill>
              </a:rPr>
              <a:t>اینجا به کارتابل، نقش و تصمیم رسید.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E7C95-5A6C-4773-936E-9BD08510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78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6BE0E-C9F0-496F-9494-87BA82BE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609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CF7"/>
                </a:solidFill>
              </a:defRPr>
            </a:pPr>
            <a:r>
              <a:rPr sz="1350" b="0">
                <a:solidFill>
                  <a:srgbClr val="FFFCF7"/>
                </a:solidFill>
              </a:rPr>
              <a:t>Arvand Cell Management</a:t>
            </a:r>
          </a:p>
          <a:p xmlns:a="http://schemas.openxmlformats.org/drawingml/2006/main">
            <a:pPr algn="r">
              <a:defRPr sz="1350" b="0">
                <a:solidFill>
                  <a:srgbClr val="FFFCF7"/>
                </a:solidFill>
              </a:defRPr>
            </a:pPr>
            <a:r>
              <a:rPr sz="1350" b="0">
                <a:solidFill>
                  <a:srgbClr val="FFFCF7"/>
                </a:solidFill>
              </a:rPr>
              <a:t>پتروشیمی اروند  ·  نسخه V 1.32</a:t>
            </a:r>
          </a:p>
        </p:txBody>
      </p:sp>
    </p:spTree>
    <p:extLst>
      <p:ext uri="{BB962C8B-B14F-4D97-AF65-F5344CB8AC3E}">
        <p14:creationId xmlns:p14="http://schemas.microsoft.com/office/powerpoint/2010/main" val="570048448"/>
      </p:ext>
    </p:extLst>
  </p:cSld>
</p:sld>
</file>

<file path=ppt/theme/theme1.xml><?xml version="1.0" encoding="utf-8"?>
<a:theme xmlns:a="http://schemas.openxmlformats.org/drawingml/2006/main" name="ArvandBrine">
  <a:themeElements>
    <a:clrScheme name="ArvandBrine">
      <a:dk1>
        <a:srgbClr val="10242C"/>
      </a:dk1>
      <a:lt1>
        <a:srgbClr val="F6F1E7"/>
      </a:lt1>
      <a:dk2>
        <a:srgbClr val="1C6B66"/>
      </a:dk2>
      <a:lt2>
        <a:srgbClr val="FFFCF7"/>
      </a:lt2>
      <a:accent1>
        <a:srgbClr val="1C6B66"/>
      </a:accent1>
      <a:accent2>
        <a:srgbClr val="A97845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rvandBrin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2026-10-19T10:05:36.1040000Z</dcterms:created>
  <dcterms:modified xsi:type="dcterms:W3CDTF">2026-10-19T10:05:36.1040000Z</dcterms:modified>
</coreProperties>
</file>